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20"/>
  </p:notesMasterIdLst>
  <p:sldIdLst>
    <p:sldId id="256" r:id="rId3"/>
    <p:sldId id="257" r:id="rId4"/>
    <p:sldId id="259" r:id="rId5"/>
    <p:sldId id="260" r:id="rId6"/>
    <p:sldId id="261" r:id="rId7"/>
    <p:sldId id="262" r:id="rId8"/>
    <p:sldId id="264" r:id="rId9"/>
    <p:sldId id="266" r:id="rId10"/>
    <p:sldId id="267" r:id="rId11"/>
    <p:sldId id="268" r:id="rId12"/>
    <p:sldId id="269" r:id="rId13"/>
    <p:sldId id="275" r:id="rId14"/>
    <p:sldId id="274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Archivo Narrow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jbsOOYTc70lt17aIG3Q+0PeRNd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949AB7-0CDA-4EFE-95C0-BEC6F47D9A5A}">
  <a:tblStyle styleId="{C7949AB7-0CDA-4EFE-95C0-BEC6F47D9A5A}" styleName="Table_0">
    <a:wholeTbl>
      <a:tcTxStyle b="off" i="off">
        <a:font>
          <a:latin typeface="Neue Haas Grotesk Text Pro"/>
          <a:ea typeface="Neue Haas Grotesk Text Pro"/>
          <a:cs typeface="Neue Haas Grotesk Text Pro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FEF"/>
          </a:solidFill>
        </a:fill>
      </a:tcStyle>
    </a:wholeTbl>
    <a:band1H>
      <a:tcTxStyle/>
      <a:tcStyle>
        <a:tcBdr/>
        <a:fill>
          <a:solidFill>
            <a:srgbClr val="CADEDD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EDD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Neue Haas Grotesk Text Pro"/>
          <a:ea typeface="Neue Haas Grotesk Text Pro"/>
          <a:cs typeface="Neue Haas Grotesk Text Pro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Neue Haas Grotesk Text Pro"/>
          <a:ea typeface="Neue Haas Grotesk Text Pro"/>
          <a:cs typeface="Neue Haas Grotesk Text Pro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Neue Haas Grotesk Text Pro"/>
          <a:ea typeface="Neue Haas Grotesk Text Pro"/>
          <a:cs typeface="Neue Haas Grotesk Text Pro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Neue Haas Grotesk Text Pro"/>
          <a:ea typeface="Neue Haas Grotesk Text Pro"/>
          <a:cs typeface="Neue Haas Grotesk Text Pro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01b08b929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6" name="Google Shape;206;g3d01b08b929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01b08b929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3" name="Google Shape;213;g3d01b08b929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01b08b92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9" name="Google Shape;219;g3d01b08b92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7"/>
          <p:cNvSpPr txBox="1"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37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7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7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8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8"/>
          <p:cNvSpPr txBox="1"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8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8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8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6"/>
          <p:cNvSpPr txBox="1"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6"/>
          <p:cNvSpPr txBox="1"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" name="Google Shape;32;p36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6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6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9"/>
          <p:cNvSpPr txBox="1"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9"/>
          <p:cNvSpPr txBox="1"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39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9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9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0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0"/>
          <p:cNvSpPr txBox="1">
            <a:spLocks noGrp="1"/>
          </p:cNvSpPr>
          <p:nvPr>
            <p:ph type="body" idx="1"/>
          </p:nvPr>
        </p:nvSpPr>
        <p:spPr>
          <a:xfrm>
            <a:off x="612648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4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40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0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0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1"/>
          <p:cNvSpPr txBox="1"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1"/>
          <p:cNvSpPr txBox="1"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cap="none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41"/>
          <p:cNvSpPr txBox="1">
            <a:spLocks noGrp="1"/>
          </p:cNvSpPr>
          <p:nvPr>
            <p:ph type="body" idx="2"/>
          </p:nvPr>
        </p:nvSpPr>
        <p:spPr>
          <a:xfrm>
            <a:off x="609600" y="2386894"/>
            <a:ext cx="5157787" cy="37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41"/>
          <p:cNvSpPr txBox="1">
            <a:spLocks noGrp="1"/>
          </p:cNvSpPr>
          <p:nvPr>
            <p:ph type="body" idx="3"/>
          </p:nvPr>
        </p:nvSpPr>
        <p:spPr>
          <a:xfrm>
            <a:off x="6172200" y="1685735"/>
            <a:ext cx="5183188" cy="559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cap="none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41"/>
          <p:cNvSpPr txBox="1">
            <a:spLocks noGrp="1"/>
          </p:cNvSpPr>
          <p:nvPr>
            <p:ph type="body" idx="4"/>
          </p:nvPr>
        </p:nvSpPr>
        <p:spPr>
          <a:xfrm>
            <a:off x="6172199" y="2386894"/>
            <a:ext cx="5183189" cy="37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41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1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1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2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2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2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2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3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3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3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4"/>
          <p:cNvSpPr txBox="1"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4"/>
          <p:cNvSpPr txBox="1">
            <a:spLocks noGrp="1"/>
          </p:cNvSpPr>
          <p:nvPr>
            <p:ph type="body" idx="1"/>
          </p:nvPr>
        </p:nvSpPr>
        <p:spPr>
          <a:xfrm>
            <a:off x="5134708" y="553616"/>
            <a:ext cx="6279741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9" name="Google Shape;69;p44"/>
          <p:cNvSpPr txBox="1">
            <a:spLocks noGrp="1"/>
          </p:cNvSpPr>
          <p:nvPr>
            <p:ph type="body" idx="2"/>
          </p:nvPr>
        </p:nvSpPr>
        <p:spPr>
          <a:xfrm>
            <a:off x="597160" y="2311121"/>
            <a:ext cx="3595634" cy="3728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44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4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4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5"/>
          <p:cNvSpPr txBox="1"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5"/>
          <p:cNvSpPr>
            <a:spLocks noGrp="1"/>
          </p:cNvSpPr>
          <p:nvPr>
            <p:ph type="pic" idx="2"/>
          </p:nvPr>
        </p:nvSpPr>
        <p:spPr>
          <a:xfrm>
            <a:off x="5063319" y="657103"/>
            <a:ext cx="6483687" cy="5555904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45"/>
          <p:cNvSpPr txBox="1">
            <a:spLocks noGrp="1"/>
          </p:cNvSpPr>
          <p:nvPr>
            <p:ph type="body" idx="1"/>
          </p:nvPr>
        </p:nvSpPr>
        <p:spPr>
          <a:xfrm>
            <a:off x="609601" y="2826137"/>
            <a:ext cx="3585586" cy="343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45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5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5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6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6"/>
          <p:cNvSpPr txBox="1">
            <a:spLocks noGrp="1"/>
          </p:cNvSpPr>
          <p:nvPr>
            <p:ph type="body" idx="1"/>
          </p:nvPr>
        </p:nvSpPr>
        <p:spPr>
          <a:xfrm rot="5400000">
            <a:off x="3622415" y="-1328869"/>
            <a:ext cx="4496065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46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6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6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7"/>
          <p:cNvSpPr txBox="1">
            <a:spLocks noGrp="1"/>
          </p:cNvSpPr>
          <p:nvPr>
            <p:ph type="title"/>
          </p:nvPr>
        </p:nvSpPr>
        <p:spPr>
          <a:xfrm rot="5400000">
            <a:off x="7859174" y="2354212"/>
            <a:ext cx="5598466" cy="2047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7"/>
          <p:cNvSpPr txBox="1">
            <a:spLocks noGrp="1"/>
          </p:cNvSpPr>
          <p:nvPr>
            <p:ph type="body" idx="1"/>
          </p:nvPr>
        </p:nvSpPr>
        <p:spPr>
          <a:xfrm rot="5400000">
            <a:off x="2437312" y="-1020615"/>
            <a:ext cx="5598465" cy="879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47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7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7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5"/>
          <p:cNvSpPr txBox="1"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5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35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35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4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34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34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34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unburst-design.com/papers/CummingsSNUG2002SJ_FIFO1.pdf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chipverify.com/uvm/uvm-scoreboard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1984366" y="1034152"/>
            <a:ext cx="8223268" cy="1125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ECE 593 Fundamentals of Pre-Silicon Validation: Design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Verification of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Asynchronous FIFO</a:t>
            </a:r>
            <a:br>
              <a:rPr lang="en-US" sz="2400" dirty="0">
                <a:solidFill>
                  <a:schemeClr val="dk1"/>
                </a:solidFill>
              </a:rPr>
            </a:br>
            <a:b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2204199" y="2159986"/>
            <a:ext cx="7588200" cy="14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lvl="0" indent="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1584"/>
              <a:buNone/>
            </a:pPr>
            <a:r>
              <a:rPr lang="en-US" sz="3400" dirty="0">
                <a:solidFill>
                  <a:schemeClr val="dk1"/>
                </a:solidFill>
              </a:rPr>
              <a:t>Team 10:</a:t>
            </a:r>
            <a:br>
              <a:rPr lang="en-US" sz="3400" dirty="0">
                <a:solidFill>
                  <a:schemeClr val="dk1"/>
                </a:solidFill>
              </a:rPr>
            </a:br>
            <a:br>
              <a:rPr lang="en-US" sz="3400" dirty="0">
                <a:solidFill>
                  <a:schemeClr val="dk1"/>
                </a:solidFill>
              </a:rPr>
            </a:br>
            <a:r>
              <a:rPr lang="en-US" sz="3400" dirty="0">
                <a:solidFill>
                  <a:schemeClr val="dk1"/>
                </a:solidFill>
              </a:rPr>
              <a:t>Monesh Kareti - monesh@pdx.edu</a:t>
            </a:r>
            <a:endParaRPr sz="3400" dirty="0">
              <a:solidFill>
                <a:schemeClr val="dk1"/>
              </a:solidFill>
            </a:endParaRPr>
          </a:p>
          <a:p>
            <a:pPr marL="0" lvl="0" indent="0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ct val="100000"/>
              <a:buNone/>
            </a:pPr>
            <a:r>
              <a:rPr lang="en-US" sz="3400" dirty="0">
                <a:solidFill>
                  <a:schemeClr val="dk1"/>
                </a:solidFill>
              </a:rPr>
              <a:t>Senkathir Mutharasu - senkmuth@pdx.edu</a:t>
            </a:r>
            <a:endParaRPr sz="3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endParaRPr sz="20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2" descr="Appointment book, fountain pen and documents (Provided by Getty Images)"/>
          <p:cNvPicPr preferRelativeResize="0"/>
          <p:nvPr/>
        </p:nvPicPr>
        <p:blipFill rotWithShape="1">
          <a:blip r:embed="rId3">
            <a:alphaModFix/>
          </a:blip>
          <a:srcRect l="23500" r="23500"/>
          <a:stretch/>
        </p:blipFill>
        <p:spPr>
          <a:xfrm>
            <a:off x="6925080" y="10"/>
            <a:ext cx="484632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291023" y="-599825"/>
            <a:ext cx="6035100" cy="15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200" dirty="0"/>
              <a:t>Agenda</a:t>
            </a:r>
            <a:endParaRPr sz="2200" dirty="0"/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1"/>
          </p:nvPr>
        </p:nvSpPr>
        <p:spPr>
          <a:xfrm>
            <a:off x="291048" y="1124273"/>
            <a:ext cx="6035100" cy="40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Introductions of Team Member</a:t>
            </a:r>
            <a:endParaRPr sz="1800" dirty="0">
              <a:solidFill>
                <a:schemeClr val="tx1"/>
              </a:solidFill>
            </a:endParaRPr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Overview of the Project</a:t>
            </a:r>
            <a:endParaRPr sz="1800" dirty="0">
              <a:solidFill>
                <a:schemeClr val="tx1"/>
              </a:solidFill>
            </a:endParaRPr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Design Implementation</a:t>
            </a:r>
            <a:endParaRPr sz="1800" dirty="0">
              <a:solidFill>
                <a:schemeClr val="tx1"/>
              </a:solidFill>
            </a:endParaRPr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Class-based Verification</a:t>
            </a:r>
            <a:endParaRPr sz="1800" dirty="0">
              <a:solidFill>
                <a:schemeClr val="tx1"/>
              </a:solidFill>
            </a:endParaRPr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UVM-based Verification</a:t>
            </a:r>
            <a:endParaRPr sz="1800" dirty="0">
              <a:solidFill>
                <a:schemeClr val="tx1"/>
              </a:solidFill>
            </a:endParaRPr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Key Challenges and Lessons Learned</a:t>
            </a:r>
            <a:endParaRPr sz="1800" dirty="0">
              <a:solidFill>
                <a:schemeClr val="tx1"/>
              </a:solidFill>
            </a:endParaRPr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Project Demonstration</a:t>
            </a:r>
            <a:endParaRPr sz="1800" dirty="0">
              <a:solidFill>
                <a:schemeClr val="tx1"/>
              </a:solidFill>
            </a:endParaRPr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Q&amp;A Session</a:t>
            </a:r>
            <a:endParaRPr sz="1800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>
              <a:solidFill>
                <a:schemeClr val="tx1"/>
              </a:solidFill>
            </a:endParaRPr>
          </a:p>
          <a:p>
            <a:pPr marL="228600" lvl="0" indent="-1143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 txBox="1">
            <a:spLocks noGrp="1"/>
          </p:cNvSpPr>
          <p:nvPr>
            <p:ph type="title"/>
          </p:nvPr>
        </p:nvSpPr>
        <p:spPr>
          <a:xfrm>
            <a:off x="612744" y="165750"/>
            <a:ext cx="5862300" cy="15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/>
              <a:t>Project Overview</a:t>
            </a:r>
            <a:br>
              <a:rPr lang="en-US" dirty="0"/>
            </a:br>
            <a:endParaRPr dirty="0"/>
          </a:p>
        </p:txBody>
      </p:sp>
      <p:sp>
        <p:nvSpPr>
          <p:cNvPr id="118" name="Google Shape;118;p4"/>
          <p:cNvSpPr txBox="1">
            <a:spLocks noGrp="1"/>
          </p:cNvSpPr>
          <p:nvPr>
            <p:ph type="body" idx="1"/>
          </p:nvPr>
        </p:nvSpPr>
        <p:spPr>
          <a:xfrm>
            <a:off x="612648" y="1768839"/>
            <a:ext cx="5862396" cy="4540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850" dirty="0"/>
              <a:t>An asynchronous FIFO is a buffer that enables safe data transfer between two independently clocked domains. It ensures data integrity by managing read and write pointers across clock domain boundaries using Gray-code synchronization.</a:t>
            </a:r>
            <a:endParaRPr sz="2550"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Specifications</a:t>
            </a:r>
            <a:endParaRPr dirty="0"/>
          </a:p>
          <a:p>
            <a:pPr marL="342900" lvl="0" indent="-3333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Write Clock (</a:t>
            </a:r>
            <a:r>
              <a:rPr lang="en-US" dirty="0" err="1"/>
              <a:t>wclk</a:t>
            </a:r>
            <a:r>
              <a:rPr lang="en-US" dirty="0"/>
              <a:t>) = 500 MHz</a:t>
            </a:r>
            <a:endParaRPr dirty="0"/>
          </a:p>
          <a:p>
            <a:pPr marL="342900" lvl="0" indent="-3333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Read Clock (</a:t>
            </a:r>
            <a:r>
              <a:rPr lang="en-US" dirty="0" err="1"/>
              <a:t>rclk</a:t>
            </a:r>
            <a:r>
              <a:rPr lang="en-US" dirty="0"/>
              <a:t>) = 500 MHz</a:t>
            </a:r>
            <a:endParaRPr dirty="0"/>
          </a:p>
          <a:p>
            <a:pPr marL="342900" lvl="0" indent="-3333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Burst Size = 450 data items</a:t>
            </a:r>
            <a:endParaRPr dirty="0"/>
          </a:p>
          <a:p>
            <a:pPr marL="342900" lvl="0" indent="-3333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Write Idle Cycles = 0, Read Idle Cycles = 4</a:t>
            </a:r>
            <a:endParaRPr dirty="0"/>
          </a:p>
          <a:p>
            <a:pPr marL="342900" lvl="0" indent="-3333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FIFO Depth = 512 (2⁹), Minimum Required = 360</a:t>
            </a:r>
            <a:endParaRPr dirty="0"/>
          </a:p>
          <a:p>
            <a:pPr marL="342900" lvl="0" indent="-3333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Additional flags: full_3_4 (occupancy &gt;= 384), empty_1_4 (occupancy &lt;= 128)</a:t>
            </a:r>
            <a:endParaRPr dirty="0"/>
          </a:p>
          <a:p>
            <a:pPr marL="228600" lvl="0" indent="-11112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pic>
        <p:nvPicPr>
          <p:cNvPr id="119" name="Google Shape;119;p4" descr="Disconnec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91395" y="1102440"/>
            <a:ext cx="4681506" cy="4681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" descr="Seat belt icon vector. Isolated contour symbol illustration (Provided by Getty Images)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1750" y="165750"/>
            <a:ext cx="5443302" cy="644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 txBox="1">
            <a:spLocks noGrp="1"/>
          </p:cNvSpPr>
          <p:nvPr>
            <p:ph type="title"/>
          </p:nvPr>
        </p:nvSpPr>
        <p:spPr>
          <a:xfrm>
            <a:off x="609602" y="4"/>
            <a:ext cx="10872300" cy="15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chivo Narrow"/>
              <a:buNone/>
            </a:pPr>
            <a:r>
              <a:rPr lang="en-US">
                <a:latin typeface="Archivo Narrow"/>
                <a:ea typeface="Archivo Narrow"/>
                <a:cs typeface="Archivo Narrow"/>
                <a:sym typeface="Archivo Narrow"/>
              </a:rPr>
              <a:t>Design Implementation</a:t>
            </a:r>
            <a:br>
              <a:rPr lang="en-US">
                <a:latin typeface="Archivo Narrow"/>
                <a:ea typeface="Archivo Narrow"/>
                <a:cs typeface="Archivo Narrow"/>
                <a:sym typeface="Archivo Narrow"/>
              </a:rPr>
            </a:br>
            <a:endParaRPr/>
          </a:p>
        </p:txBody>
      </p:sp>
      <p:sp>
        <p:nvSpPr>
          <p:cNvPr id="127" name="Google Shape;127;p5"/>
          <p:cNvSpPr txBox="1">
            <a:spLocks noGrp="1"/>
          </p:cNvSpPr>
          <p:nvPr>
            <p:ph type="body" idx="1"/>
          </p:nvPr>
        </p:nvSpPr>
        <p:spPr>
          <a:xfrm>
            <a:off x="5922800" y="1338168"/>
            <a:ext cx="5385900" cy="46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An extra bit is used in pointer width to distinguish FULL and EMPTY conditions.  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Gray-code encoding is applied to write and read pointers (g_wptr, g_rptr) for safe cross-clock-domain synchronization via two-stage flip-flop synchronizers (sync_wptr, sync_rptr).  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On reset (wrst_n / rrst_n active low), both binary and Gray-coded pointers in wptr_handler and rptr_handler are initialized to zero.  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wptr_handler increments b_wptr only when w_en=1 and !full. rptr_handler increments b_rptr only when r_en=1 and !empty. 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b="1"/>
              <a:t>Full &amp; Empty Conditions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EMPTY: g_wptr_sync == g_rptr_next. Asserted in rptr_handler when synchronized write pointer equals the next read pointer.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FULL: MSBs of g_wptr_next and g_rptr_sync differ while remaining bits match. Additional flags: full_3_4 when occupancy &gt;= 384, empty_1_4 when occupancy &lt;= 128.</a:t>
            </a:r>
            <a:endParaRPr/>
          </a:p>
          <a:p>
            <a:pPr marL="228600" lvl="0" indent="-15875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100"/>
          </a:p>
        </p:txBody>
      </p:sp>
      <p:pic>
        <p:nvPicPr>
          <p:cNvPr id="128" name="Google Shape;128;p5" descr="the database is an icon vector. Isolated contour symbol illustration (Provided by Getty Images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7928" y="2130549"/>
            <a:ext cx="3817943" cy="3817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Block Diagram of Asynchronous FIFO</a:t>
            </a:r>
            <a:endParaRPr/>
          </a:p>
        </p:txBody>
      </p:sp>
      <p:pic>
        <p:nvPicPr>
          <p:cNvPr id="134" name="Google Shape;134;p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482253" y="1716088"/>
            <a:ext cx="6914756" cy="4592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Verfication of Aysnchorous FIFO</a:t>
            </a:r>
            <a:endParaRPr/>
          </a:p>
        </p:txBody>
      </p:sp>
      <p:sp>
        <p:nvSpPr>
          <p:cNvPr id="140" name="Google Shape;140;p7"/>
          <p:cNvSpPr txBox="1">
            <a:spLocks noGrp="1"/>
          </p:cNvSpPr>
          <p:nvPr>
            <p:ph type="body" idx="1"/>
          </p:nvPr>
        </p:nvSpPr>
        <p:spPr>
          <a:xfrm>
            <a:off x="612647" y="1715532"/>
            <a:ext cx="10234647" cy="459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Our Verification of Aysnchorous FIFO is done with both: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SystemVerilog Class-Based Verification Environment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UVM-Based Verification Environment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/>
          <p:nvPr/>
        </p:nvSpPr>
        <p:spPr>
          <a:xfrm>
            <a:off x="-74225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 txBox="1">
            <a:spLocks noGrp="1"/>
          </p:cNvSpPr>
          <p:nvPr>
            <p:ph type="title"/>
          </p:nvPr>
        </p:nvSpPr>
        <p:spPr>
          <a:xfrm>
            <a:off x="399300" y="324250"/>
            <a:ext cx="5305800" cy="11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Class Based Verification</a:t>
            </a:r>
            <a:br>
              <a:rPr lang="en-US"/>
            </a:br>
            <a:endParaRPr/>
          </a:p>
        </p:txBody>
      </p:sp>
      <p:grpSp>
        <p:nvGrpSpPr>
          <p:cNvPr id="154" name="Google Shape;154;p9"/>
          <p:cNvGrpSpPr/>
          <p:nvPr/>
        </p:nvGrpSpPr>
        <p:grpSpPr>
          <a:xfrm>
            <a:off x="484900" y="1255350"/>
            <a:ext cx="11330878" cy="4565417"/>
            <a:chOff x="0" y="3329"/>
            <a:chExt cx="7924799" cy="4565417"/>
          </a:xfrm>
        </p:grpSpPr>
        <p:sp>
          <p:nvSpPr>
            <p:cNvPr id="155" name="Google Shape;155;p9"/>
            <p:cNvSpPr/>
            <p:nvPr/>
          </p:nvSpPr>
          <p:spPr>
            <a:xfrm>
              <a:off x="0" y="3329"/>
              <a:ext cx="7924799" cy="905924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1046342" y="3329"/>
              <a:ext cx="6877433" cy="9059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9"/>
            <p:cNvSpPr txBox="1"/>
            <p:nvPr/>
          </p:nvSpPr>
          <p:spPr>
            <a:xfrm>
              <a:off x="56742" y="77529"/>
              <a:ext cx="6877500" cy="90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875" tIns="95875" rIns="95875" bIns="958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lang="en-US" sz="2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Verification includes the development of a testbench using components built with SystemVerilog classes.</a:t>
              </a:r>
              <a:endParaRPr/>
            </a:p>
          </p:txBody>
        </p:sp>
        <p:sp>
          <p:nvSpPr>
            <p:cNvPr id="158" name="Google Shape;158;p9"/>
            <p:cNvSpPr/>
            <p:nvPr/>
          </p:nvSpPr>
          <p:spPr>
            <a:xfrm>
              <a:off x="0" y="1266835"/>
              <a:ext cx="7924799" cy="905924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9"/>
            <p:cNvSpPr/>
            <p:nvPr/>
          </p:nvSpPr>
          <p:spPr>
            <a:xfrm>
              <a:off x="1046342" y="1266835"/>
              <a:ext cx="3566159" cy="9059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9"/>
            <p:cNvSpPr txBox="1"/>
            <p:nvPr/>
          </p:nvSpPr>
          <p:spPr>
            <a:xfrm>
              <a:off x="12516" y="1275200"/>
              <a:ext cx="3566100" cy="90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875" tIns="95875" rIns="95875" bIns="958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lang="en-US" sz="21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 key classes involved are:</a:t>
              </a:r>
              <a:endParaRPr dirty="0"/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4612502" y="1135734"/>
              <a:ext cx="3311274" cy="1168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9"/>
            <p:cNvSpPr txBox="1"/>
            <p:nvPr/>
          </p:nvSpPr>
          <p:spPr>
            <a:xfrm>
              <a:off x="2553005" y="1384762"/>
              <a:ext cx="5033460" cy="68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875" tIns="95875" rIns="95875" bIns="958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1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Transaction, Generator, Driver</a:t>
              </a:r>
              <a:r>
                <a:rPr lang="en-US" sz="2100" dirty="0"/>
                <a:t>, </a:t>
              </a:r>
              <a:r>
                <a:rPr lang="en-US" sz="21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Monitor</a:t>
              </a:r>
              <a:r>
                <a:rPr lang="en-US" sz="2100" dirty="0"/>
                <a:t>, </a:t>
              </a:r>
              <a:r>
                <a:rPr lang="en-US" sz="21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Scoreboard</a:t>
              </a:r>
              <a:endParaRPr sz="2100" dirty="0"/>
            </a:p>
          </p:txBody>
        </p:sp>
        <p:sp>
          <p:nvSpPr>
            <p:cNvPr id="163" name="Google Shape;163;p9"/>
            <p:cNvSpPr/>
            <p:nvPr/>
          </p:nvSpPr>
          <p:spPr>
            <a:xfrm>
              <a:off x="0" y="2530341"/>
              <a:ext cx="7924799" cy="905924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1046342" y="2530341"/>
              <a:ext cx="6877433" cy="9059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9"/>
            <p:cNvSpPr txBox="1"/>
            <p:nvPr/>
          </p:nvSpPr>
          <p:spPr>
            <a:xfrm>
              <a:off x="56779" y="2530341"/>
              <a:ext cx="6877500" cy="90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875" tIns="95875" rIns="95875" bIns="958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lang="en-US" sz="2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Instances of these classes are created within the "Environment" class.</a:t>
              </a:r>
              <a:endParaRPr/>
            </a:p>
          </p:txBody>
        </p:sp>
        <p:sp>
          <p:nvSpPr>
            <p:cNvPr id="166" name="Google Shape;166;p9"/>
            <p:cNvSpPr/>
            <p:nvPr/>
          </p:nvSpPr>
          <p:spPr>
            <a:xfrm>
              <a:off x="0" y="3662746"/>
              <a:ext cx="7924799" cy="905924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1046342" y="3662746"/>
              <a:ext cx="6877433" cy="9059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9"/>
            <p:cNvSpPr txBox="1"/>
            <p:nvPr/>
          </p:nvSpPr>
          <p:spPr>
            <a:xfrm>
              <a:off x="56754" y="3662746"/>
              <a:ext cx="6877500" cy="90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875" tIns="95875" rIns="95875" bIns="958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lang="en-US" sz="2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 overall process flow is shown in the following slide.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UVM Environment We Built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4222376" y="6124694"/>
            <a:ext cx="406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3" name="Google Shape;18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7625" y="1487300"/>
            <a:ext cx="6990600" cy="517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>
            <a:spLocks noGrp="1"/>
          </p:cNvSpPr>
          <p:nvPr>
            <p:ph type="title"/>
          </p:nvPr>
        </p:nvSpPr>
        <p:spPr>
          <a:xfrm>
            <a:off x="339775" y="225275"/>
            <a:ext cx="5439600" cy="1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UVM Based Verification</a:t>
            </a:r>
            <a:br>
              <a:rPr lang="en-US"/>
            </a:br>
            <a:endParaRPr/>
          </a:p>
        </p:txBody>
      </p:sp>
      <p:grpSp>
        <p:nvGrpSpPr>
          <p:cNvPr id="189" name="Google Shape;189;p18"/>
          <p:cNvGrpSpPr/>
          <p:nvPr/>
        </p:nvGrpSpPr>
        <p:grpSpPr>
          <a:xfrm>
            <a:off x="435429" y="1255350"/>
            <a:ext cx="11110785" cy="4565425"/>
            <a:chOff x="0" y="3329"/>
            <a:chExt cx="7888941" cy="4565425"/>
          </a:xfrm>
        </p:grpSpPr>
        <p:sp>
          <p:nvSpPr>
            <p:cNvPr id="190" name="Google Shape;190;p18"/>
            <p:cNvSpPr/>
            <p:nvPr/>
          </p:nvSpPr>
          <p:spPr>
            <a:xfrm>
              <a:off x="0" y="3329"/>
              <a:ext cx="7888941" cy="905924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8"/>
            <p:cNvSpPr/>
            <p:nvPr/>
          </p:nvSpPr>
          <p:spPr>
            <a:xfrm>
              <a:off x="1046342" y="3329"/>
              <a:ext cx="6841575" cy="9059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8"/>
            <p:cNvSpPr txBox="1"/>
            <p:nvPr/>
          </p:nvSpPr>
          <p:spPr>
            <a:xfrm>
              <a:off x="52699" y="3329"/>
              <a:ext cx="7835100" cy="90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875" tIns="95875" rIns="95875" bIns="958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Verification includes the development of a testbench using components built with UVM.</a:t>
              </a:r>
              <a:endParaRPr sz="2000"/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0" y="1266835"/>
              <a:ext cx="7888941" cy="905924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8"/>
            <p:cNvSpPr/>
            <p:nvPr/>
          </p:nvSpPr>
          <p:spPr>
            <a:xfrm>
              <a:off x="1046342" y="1266835"/>
              <a:ext cx="3550023" cy="9059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8"/>
            <p:cNvSpPr txBox="1"/>
            <p:nvPr/>
          </p:nvSpPr>
          <p:spPr>
            <a:xfrm>
              <a:off x="52697" y="1266872"/>
              <a:ext cx="3549900" cy="90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875" tIns="95875" rIns="95875" bIns="958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 key classes involved are:</a:t>
              </a:r>
              <a:endParaRPr sz="2000"/>
            </a:p>
          </p:txBody>
        </p:sp>
        <p:sp>
          <p:nvSpPr>
            <p:cNvPr id="196" name="Google Shape;196;p18"/>
            <p:cNvSpPr/>
            <p:nvPr/>
          </p:nvSpPr>
          <p:spPr>
            <a:xfrm>
              <a:off x="4596365" y="1135734"/>
              <a:ext cx="3291552" cy="1168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8"/>
            <p:cNvSpPr txBox="1"/>
            <p:nvPr/>
          </p:nvSpPr>
          <p:spPr>
            <a:xfrm>
              <a:off x="2529535" y="1332379"/>
              <a:ext cx="5199600" cy="77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875" tIns="95875" rIns="95875" bIns="958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300" b="0" i="0" u="none" strike="noStrike" cap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uvm_seq_item</a:t>
              </a:r>
              <a:r>
                <a:rPr lang="en-US" sz="1300" dirty="0">
                  <a:solidFill>
                    <a:schemeClr val="dk1"/>
                  </a:solidFill>
                </a:rPr>
                <a:t>, </a:t>
              </a:r>
              <a:r>
                <a:rPr lang="en-US" sz="1300" dirty="0" err="1">
                  <a:solidFill>
                    <a:schemeClr val="dk1"/>
                  </a:solidFill>
                </a:rPr>
                <a:t>u</a:t>
              </a:r>
              <a:r>
                <a:rPr lang="en-US" sz="1300" b="0" i="0" u="none" strike="noStrike" cap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vm_sequence</a:t>
              </a:r>
              <a:r>
                <a:rPr lang="en-US" sz="1300" dirty="0">
                  <a:solidFill>
                    <a:schemeClr val="dk1"/>
                  </a:solidFill>
                </a:rPr>
                <a:t>, </a:t>
              </a:r>
              <a:r>
                <a:rPr lang="en-US" sz="1300" dirty="0" err="1">
                  <a:solidFill>
                    <a:schemeClr val="dk1"/>
                  </a:solidFill>
                </a:rPr>
                <a:t>u</a:t>
              </a:r>
              <a:r>
                <a:rPr lang="en-US" sz="1300" b="0" i="0" u="none" strike="noStrike" cap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vm_sequencer</a:t>
              </a:r>
              <a:r>
                <a:rPr lang="en-US" sz="1300" dirty="0">
                  <a:solidFill>
                    <a:schemeClr val="dk1"/>
                  </a:solidFill>
                </a:rPr>
                <a:t>, </a:t>
              </a:r>
              <a:r>
                <a:rPr lang="en-US" sz="1300" dirty="0" err="1">
                  <a:solidFill>
                    <a:schemeClr val="dk1"/>
                  </a:solidFill>
                </a:rPr>
                <a:t>uv</a:t>
              </a:r>
              <a:r>
                <a:rPr lang="en-US" sz="1300" b="0" i="0" u="none" strike="noStrike" cap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m_driver</a:t>
              </a:r>
              <a:r>
                <a:rPr lang="en-US" sz="1300" dirty="0">
                  <a:solidFill>
                    <a:schemeClr val="dk1"/>
                  </a:solidFill>
                </a:rPr>
                <a:t>, </a:t>
              </a:r>
              <a:r>
                <a:rPr lang="en-US" sz="1300" dirty="0" err="1">
                  <a:solidFill>
                    <a:schemeClr val="dk1"/>
                  </a:solidFill>
                </a:rPr>
                <a:t>u</a:t>
              </a:r>
              <a:r>
                <a:rPr lang="en-US" sz="1300" b="0" i="0" u="none" strike="noStrike" cap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vm_monitor</a:t>
              </a:r>
              <a:r>
                <a:rPr lang="en-US" sz="1300" dirty="0">
                  <a:solidFill>
                    <a:schemeClr val="dk1"/>
                  </a:solidFill>
                </a:rPr>
                <a:t>, </a:t>
              </a:r>
              <a:r>
                <a:rPr lang="en-US" sz="1300" dirty="0" err="1">
                  <a:solidFill>
                    <a:schemeClr val="dk1"/>
                  </a:solidFill>
                </a:rPr>
                <a:t>u</a:t>
              </a:r>
              <a:r>
                <a:rPr lang="en-US" sz="1300" b="0" i="0" u="none" strike="noStrike" cap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vm_scoreboard</a:t>
              </a:r>
              <a:endParaRPr sz="13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8"/>
            <p:cNvSpPr/>
            <p:nvPr/>
          </p:nvSpPr>
          <p:spPr>
            <a:xfrm>
              <a:off x="0" y="2530341"/>
              <a:ext cx="7888941" cy="905924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8"/>
            <p:cNvSpPr/>
            <p:nvPr/>
          </p:nvSpPr>
          <p:spPr>
            <a:xfrm>
              <a:off x="1046342" y="2530341"/>
              <a:ext cx="6841575" cy="9059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8"/>
            <p:cNvSpPr txBox="1"/>
            <p:nvPr/>
          </p:nvSpPr>
          <p:spPr>
            <a:xfrm>
              <a:off x="52824" y="2530329"/>
              <a:ext cx="7835100" cy="90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875" tIns="95875" rIns="95875" bIns="958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Instances of these classes are created within the “uvm_env" class.</a:t>
              </a:r>
              <a:endParaRPr sz="1200"/>
            </a:p>
          </p:txBody>
        </p:sp>
        <p:sp>
          <p:nvSpPr>
            <p:cNvPr id="201" name="Google Shape;201;p18"/>
            <p:cNvSpPr/>
            <p:nvPr/>
          </p:nvSpPr>
          <p:spPr>
            <a:xfrm>
              <a:off x="0" y="3662746"/>
              <a:ext cx="7888941" cy="905924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8"/>
            <p:cNvSpPr/>
            <p:nvPr/>
          </p:nvSpPr>
          <p:spPr>
            <a:xfrm>
              <a:off x="1046342" y="3662746"/>
              <a:ext cx="6841575" cy="9059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8"/>
            <p:cNvSpPr txBox="1"/>
            <p:nvPr/>
          </p:nvSpPr>
          <p:spPr>
            <a:xfrm>
              <a:off x="96615" y="3662754"/>
              <a:ext cx="7791300" cy="90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875" tIns="95875" rIns="95875" bIns="958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 overall process flow is shown in the following slide.</a:t>
              </a:r>
              <a:endParaRPr sz="200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01b08b929_0_1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d01b08b929_0_174"/>
          <p:cNvSpPr txBox="1">
            <a:spLocks noGrp="1"/>
          </p:cNvSpPr>
          <p:nvPr>
            <p:ph type="title"/>
          </p:nvPr>
        </p:nvSpPr>
        <p:spPr>
          <a:xfrm>
            <a:off x="612648" y="600075"/>
            <a:ext cx="7047300" cy="3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UVM Sequences &amp; Simulation</a:t>
            </a:r>
            <a:endParaRPr/>
          </a:p>
        </p:txBody>
      </p:sp>
      <p:sp>
        <p:nvSpPr>
          <p:cNvPr id="210" name="Google Shape;210;g3d01b08b929_0_174"/>
          <p:cNvSpPr txBox="1">
            <a:spLocks noGrp="1"/>
          </p:cNvSpPr>
          <p:nvPr>
            <p:ph type="body" idx="1"/>
          </p:nvPr>
        </p:nvSpPr>
        <p:spPr>
          <a:xfrm>
            <a:off x="612651" y="1349125"/>
            <a:ext cx="10395300" cy="49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sz="1300" b="1"/>
              <a:t>Test Sequences: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/>
              <a:t>fifo_5_packets runs 100 iterations: req.randomize() with {length==450; write_idle_cycles==0; read_idle_cycles==3;}. fifo_base_seq raises/drops objection via starting_phase in pre_body()/post_body().</a:t>
            </a:r>
            <a:endParaRPr/>
          </a:p>
          <a:p>
            <a:pPr marL="228600" lvl="0" indent="-14605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sz="1300"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sz="1300" b="1"/>
              <a:t>TLM Port Connections: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/>
              <a:t>monitor_out.fifo_out → scoreboard.fifo_out (read side) | monitor_in.fifo_in → scoreboard.fifo_in (write side) | monitor_out.fifo_cov_out → subscriber.analysis_export (coverage)</a:t>
            </a:r>
            <a:endParaRPr/>
          </a:p>
          <a:p>
            <a:pPr marL="228600" lvl="0" indent="-14605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sz="1300"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sz="1300" b="1"/>
              <a:t>Running and Checking:</a:t>
            </a:r>
            <a:endParaRPr/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/>
              <a:t>Runs in ModelSim/QuestaSim. Scoreboard uses packet.compare() (UVM field macros) on full objects. check_phase asserts reference queue is drained , zero unmatched packets.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01b08b929_0_94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600" cy="11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UVM Environment Structure</a:t>
            </a:r>
            <a:br>
              <a:rPr lang="en-US"/>
            </a:br>
            <a:endParaRPr/>
          </a:p>
        </p:txBody>
      </p:sp>
      <p:sp>
        <p:nvSpPr>
          <p:cNvPr id="216" name="Google Shape;216;g3d01b08b929_0_94"/>
          <p:cNvSpPr txBox="1">
            <a:spLocks noGrp="1"/>
          </p:cNvSpPr>
          <p:nvPr>
            <p:ph type="body" idx="1"/>
          </p:nvPr>
        </p:nvSpPr>
        <p:spPr>
          <a:xfrm>
            <a:off x="612647" y="1393907"/>
            <a:ext cx="10653600" cy="45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/>
              <a:t>Testbench Topology:</a:t>
            </a:r>
            <a:endParaRPr/>
          </a:p>
          <a:p>
            <a:pPr marL="228600" lvl="0" indent="-2190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fifo_agent: active agent — sequencer + driver + monitor_out + monitor_in, all connected in connect_phase</a:t>
            </a:r>
            <a:endParaRPr/>
          </a:p>
          <a:p>
            <a:pPr marL="228600" lvl="0" indent="-2190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fifo_env (inner): holds fifo_agent + fifo_subscriber; connects coverage TLM ports</a:t>
            </a:r>
            <a:endParaRPr/>
          </a:p>
          <a:p>
            <a:pPr marL="228600" lvl="0" indent="-2190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fifo_tb (outer): holds fifo_env + fifo_scoreboard; connects scoreboard analysis ports</a:t>
            </a:r>
            <a:endParaRPr/>
          </a:p>
          <a:p>
            <a:pPr marL="228600" lvl="0" indent="-2190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Virtual interface distributed via uvm_config_db to all components targeting uvm_test_top.tb.env.agent.*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/>
              <a:t>Stimulus Generation:</a:t>
            </a:r>
            <a:endParaRPr/>
          </a:p>
          <a:p>
            <a:pPr marL="228600" lvl="0" indent="-2190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fifo_5_packets: runs 100 iterations, each randomized with length==450 (burst spec), write_idle_cycles==0</a:t>
            </a:r>
            <a:endParaRPr/>
          </a:p>
          <a:p>
            <a:pPr marL="228600" lvl="0" indent="-2190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fifo_base_seq: handles phase objection raise (pre_body) and drop (post_body) to control simulation end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/>
              <a:t>Simulation Flow:</a:t>
            </a:r>
            <a:endParaRPr/>
          </a:p>
          <a:p>
            <a:pPr marL="228600" lvl="0" indent="-2190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Standard UVM phases: build → connect → start_of_simulation → run → check → report</a:t>
            </a:r>
            <a:endParaRPr b="1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/>
              <a:t>Results Validation:</a:t>
            </a:r>
            <a:endParaRPr/>
          </a:p>
          <a:p>
            <a:pPr marL="228600" lvl="0" indent="-2190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Scoreboard check_phase verifies reference queue is empty (all packets matched)</a:t>
            </a:r>
            <a:endParaRPr/>
          </a:p>
          <a:p>
            <a:pPr marL="228600" lvl="0" indent="-2190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Subscriber reports functional coverage; fifo_subscriber samples flag-state combinations via analysis_export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B11C42-9409-BADD-36D4-828C21AA8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Bug Injection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34634D-CF9B-852F-105F-B132C2D7C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1D7FEF-3F29-8724-46F9-3E60CEAA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42" y="1870841"/>
            <a:ext cx="10249788" cy="264436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9BA01F4-4EBB-B345-E53B-91F0D6BF1789}"/>
              </a:ext>
            </a:extLst>
          </p:cNvPr>
          <p:cNvSpPr/>
          <p:nvPr/>
        </p:nvSpPr>
        <p:spPr>
          <a:xfrm>
            <a:off x="2762864" y="1863721"/>
            <a:ext cx="4542503" cy="2627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E45A1D-BF60-169F-B214-48DE2C38E42F}"/>
              </a:ext>
            </a:extLst>
          </p:cNvPr>
          <p:cNvSpPr/>
          <p:nvPr/>
        </p:nvSpPr>
        <p:spPr>
          <a:xfrm>
            <a:off x="925774" y="3903406"/>
            <a:ext cx="2859645" cy="3441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72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D1AC7A-145A-6138-2C80-8C8BB6505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effectLst/>
                <a:latin typeface="+mj-lt"/>
              </a:rPr>
              <a:t>Task Allocation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70BC07-69D0-C885-D169-495DAAC85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marR="0">
              <a:spcBef>
                <a:spcPts val="0"/>
              </a:spcBef>
              <a:spcAft>
                <a:spcPts val="600"/>
              </a:spcAft>
            </a:pPr>
            <a:r>
              <a:rPr lang="en-US" sz="1800" dirty="0" err="1">
                <a:effectLst/>
                <a:latin typeface="+mn-lt"/>
                <a:ea typeface="Arial" panose="020B0604020202020204" pitchFamily="34" charset="0"/>
              </a:rPr>
              <a:t>Monesh</a:t>
            </a:r>
            <a:r>
              <a:rPr lang="en-US" sz="1800" dirty="0">
                <a:effectLst/>
                <a:latin typeface="+mn-lt"/>
                <a:ea typeface="Arial" panose="020B0604020202020204" pitchFamily="34" charset="0"/>
              </a:rPr>
              <a:t> is responsible for the write-side architecture across both RTL and verification. His RTL focus includes wptr_handler.sv, implementing the binary write pointer increment, Gray-code conversion, and the full / full_3_4 flag logic (wfull_3_4: </a:t>
            </a:r>
            <a:r>
              <a:rPr lang="en-US" sz="1800" dirty="0" err="1">
                <a:effectLst/>
                <a:latin typeface="+mn-lt"/>
                <a:ea typeface="Arial" panose="020B0604020202020204" pitchFamily="34" charset="0"/>
              </a:rPr>
              <a:t>b_wptr</a:t>
            </a:r>
            <a:r>
              <a:rPr lang="en-US" sz="1800" dirty="0">
                <a:effectLst/>
                <a:latin typeface="+mn-lt"/>
                <a:ea typeface="Arial" panose="020B0604020202020204" pitchFamily="34" charset="0"/>
              </a:rPr>
              <a:t> − </a:t>
            </a:r>
            <a:r>
              <a:rPr lang="en-US" sz="1800" dirty="0" err="1">
                <a:effectLst/>
                <a:latin typeface="+mn-lt"/>
                <a:ea typeface="Arial" panose="020B0604020202020204" pitchFamily="34" charset="0"/>
              </a:rPr>
              <a:t>b_rptr_sync</a:t>
            </a:r>
            <a:r>
              <a:rPr lang="en-US" sz="1800" dirty="0">
                <a:effectLst/>
                <a:latin typeface="+mn-lt"/>
                <a:ea typeface="Arial" panose="020B0604020202020204" pitchFamily="34" charset="0"/>
              </a:rPr>
              <a:t> ≥ 384), and the fifo_mem.sv synchronous write path with overflow protection. On the verification side, </a:t>
            </a:r>
            <a:r>
              <a:rPr lang="en-US" sz="1800" dirty="0" err="1">
                <a:effectLst/>
                <a:latin typeface="+mn-lt"/>
                <a:ea typeface="Arial" panose="020B0604020202020204" pitchFamily="34" charset="0"/>
              </a:rPr>
              <a:t>Monesh</a:t>
            </a:r>
            <a:r>
              <a:rPr lang="en-US" sz="1800" dirty="0">
                <a:effectLst/>
                <a:latin typeface="+mn-lt"/>
                <a:ea typeface="Arial" panose="020B0604020202020204" pitchFamily="34" charset="0"/>
              </a:rPr>
              <a:t> develops the UVM write-side components: fifo_driver.sv (packet framing and </a:t>
            </a:r>
            <a:r>
              <a:rPr lang="en-US" sz="1800" dirty="0" err="1">
                <a:effectLst/>
                <a:latin typeface="+mn-lt"/>
                <a:ea typeface="Arial" panose="020B0604020202020204" pitchFamily="34" charset="0"/>
              </a:rPr>
              <a:t>wclk</a:t>
            </a:r>
            <a:r>
              <a:rPr lang="en-US" sz="1800" dirty="0">
                <a:effectLst/>
                <a:latin typeface="+mn-lt"/>
                <a:ea typeface="Arial" panose="020B0604020202020204" pitchFamily="34" charset="0"/>
              </a:rPr>
              <a:t>-domain stimulus), fifo_monitor_in.sv (write-side packet reconstruction), fifo_seqs.sv and fifo_sequencer.sv (sequence generation and arbitration), and fifo_packet.sv (transaction class with constraints and parity). He also leads the Design Specification documentation.</a:t>
            </a:r>
          </a:p>
          <a:p>
            <a:pPr marL="0" marR="0"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effectLst/>
                <a:latin typeface="+mn-lt"/>
                <a:ea typeface="Arial" panose="020B0604020202020204" pitchFamily="34" charset="0"/>
              </a:rPr>
              <a:t>Senkathir is responsible for the read-side architecture across both RTL and verification. His RTL tasks include rptr_handler.sv, implementing the binary read pointer increment, Gray-code conversion, and the empty / empty_1_4 flag logic (rempty14: </a:t>
            </a:r>
            <a:r>
              <a:rPr lang="en-US" sz="1800" dirty="0" err="1">
                <a:effectLst/>
                <a:latin typeface="+mn-lt"/>
                <a:ea typeface="Arial" panose="020B0604020202020204" pitchFamily="34" charset="0"/>
              </a:rPr>
              <a:t>b_wptr_sync</a:t>
            </a:r>
            <a:r>
              <a:rPr lang="en-US" sz="1800" dirty="0">
                <a:effectLst/>
                <a:latin typeface="+mn-lt"/>
                <a:ea typeface="Arial" panose="020B0604020202020204" pitchFamily="34" charset="0"/>
              </a:rPr>
              <a:t> − </a:t>
            </a:r>
            <a:r>
              <a:rPr lang="en-US" sz="1800" dirty="0" err="1">
                <a:effectLst/>
                <a:latin typeface="+mn-lt"/>
                <a:ea typeface="Arial" panose="020B0604020202020204" pitchFamily="34" charset="0"/>
              </a:rPr>
              <a:t>b_rptr</a:t>
            </a:r>
            <a:r>
              <a:rPr lang="en-US" sz="1800" dirty="0">
                <a:effectLst/>
                <a:latin typeface="+mn-lt"/>
                <a:ea typeface="Arial" panose="020B0604020202020204" pitchFamily="34" charset="0"/>
              </a:rPr>
              <a:t> ≤ 384), and the integration of synchronizer.sv two-flop modules (</a:t>
            </a:r>
            <a:r>
              <a:rPr lang="en-US" sz="1800" dirty="0" err="1">
                <a:effectLst/>
                <a:latin typeface="+mn-lt"/>
                <a:ea typeface="Arial" panose="020B0604020202020204" pitchFamily="34" charset="0"/>
              </a:rPr>
              <a:t>sync_wptr</a:t>
            </a:r>
            <a:r>
              <a:rPr lang="en-US" sz="1800" dirty="0">
                <a:effectLst/>
                <a:latin typeface="+mn-lt"/>
                <a:ea typeface="Arial" panose="020B0604020202020204" pitchFamily="34" charset="0"/>
              </a:rPr>
              <a:t> and </a:t>
            </a:r>
            <a:r>
              <a:rPr lang="en-US" sz="1800" dirty="0" err="1">
                <a:effectLst/>
                <a:latin typeface="+mn-lt"/>
                <a:ea typeface="Arial" panose="020B0604020202020204" pitchFamily="34" charset="0"/>
              </a:rPr>
              <a:t>sync_rptr</a:t>
            </a:r>
            <a:r>
              <a:rPr lang="en-US" sz="1800" dirty="0">
                <a:effectLst/>
                <a:latin typeface="+mn-lt"/>
                <a:ea typeface="Arial" panose="020B0604020202020204" pitchFamily="34" charset="0"/>
              </a:rPr>
              <a:t>) into hw_top.sv. On the verification side, Senkathir builds the UVM read-side and infrastructure components: fifo_monitor.sv (read-side packet reconstruction and coverage sampling), fifo_scoreboard.sv (packet-level comparison and reference model), fifo_subscriber.sv (functional coverage collection), fifo_env.sv and fifo_tb.sv (environment hierarchy and TLM connections), fifo_test_lib.sv (test classes), and tb_top.sv (static testbench top). He also leads authorship of the Verification Plan.</a:t>
            </a:r>
          </a:p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90942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01b08b929_0_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d01b08b929_0_10"/>
          <p:cNvSpPr txBox="1">
            <a:spLocks noGrp="1"/>
          </p:cNvSpPr>
          <p:nvPr>
            <p:ph type="title"/>
          </p:nvPr>
        </p:nvSpPr>
        <p:spPr>
          <a:xfrm>
            <a:off x="612648" y="327925"/>
            <a:ext cx="60351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Key Challenges</a:t>
            </a:r>
            <a:endParaRPr/>
          </a:p>
        </p:txBody>
      </p:sp>
      <p:sp>
        <p:nvSpPr>
          <p:cNvPr id="223" name="Google Shape;223;g3d01b08b929_0_10"/>
          <p:cNvSpPr txBox="1">
            <a:spLocks noGrp="1"/>
          </p:cNvSpPr>
          <p:nvPr>
            <p:ph type="body" idx="1"/>
          </p:nvPr>
        </p:nvSpPr>
        <p:spPr>
          <a:xfrm>
            <a:off x="513676" y="1338500"/>
            <a:ext cx="9757800" cy="45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Managing the two-level UVM environment hierarchy (fifo_tb wrapping fifo_env) required careful TLM port connection planning across the outer and inner environments. 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The `data_out` was not updated correctly after each read transfer in the monitor and driver.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Ensuring the virtual interface path in uvm_config_db matched the two-level hierarchy (uvm_test_top.tb.env.agent.*) required precise path configuration.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Staggered reset (wrst_n before rrst_n) across asynchronous clock domains required careful sequencing in tb_top to prevent metastability in the synchronizer pipeline during initialization.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1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/>
              <a:t>Lessons Learned</a:t>
            </a:r>
            <a:br>
              <a:rPr lang="en-US" sz="3600"/>
            </a:br>
            <a:endParaRPr/>
          </a:p>
        </p:txBody>
      </p:sp>
      <p:sp>
        <p:nvSpPr>
          <p:cNvPr id="229" name="Google Shape;229;p31"/>
          <p:cNvSpPr txBox="1">
            <a:spLocks noGrp="1"/>
          </p:cNvSpPr>
          <p:nvPr>
            <p:ph type="body" idx="1"/>
          </p:nvPr>
        </p:nvSpPr>
        <p:spPr>
          <a:xfrm>
            <a:off x="612647" y="1319134"/>
            <a:ext cx="10653579" cy="4990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1. Standardization and Reusability:  </a:t>
            </a:r>
            <a:endParaRPr sz="1600" dirty="0"/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-US" sz="1600" dirty="0"/>
              <a:t>   UVM’s factory and </a:t>
            </a:r>
            <a:r>
              <a:rPr lang="en-US" sz="1600" dirty="0" err="1"/>
              <a:t>config_db</a:t>
            </a:r>
            <a:r>
              <a:rPr lang="en-US" sz="1600" dirty="0"/>
              <a:t> mechanisms allow components like the agent and scoreboard to be reused and reconfigured without modifying source code.</a:t>
            </a:r>
            <a:endParaRPr sz="16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dirty="0"/>
              <a:t>2. Modularity:  </a:t>
            </a:r>
            <a:endParaRPr sz="1600" dirty="0"/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-US" sz="1600" dirty="0"/>
              <a:t>   Separating the scoreboard into the outer environment (</a:t>
            </a:r>
            <a:r>
              <a:rPr lang="en-US" sz="1600" dirty="0" err="1"/>
              <a:t>fifo_tb</a:t>
            </a:r>
            <a:r>
              <a:rPr lang="en-US" sz="1600" dirty="0"/>
              <a:t>) and coverage into the inner environment (</a:t>
            </a:r>
            <a:r>
              <a:rPr lang="en-US" sz="1600" dirty="0" err="1"/>
              <a:t>fifo_env</a:t>
            </a:r>
            <a:r>
              <a:rPr lang="en-US" sz="1600" dirty="0"/>
              <a:t>) kept concerns isolated and made debugging significantly easier.</a:t>
            </a:r>
            <a:endParaRPr sz="16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dirty="0"/>
              <a:t>3. Advanced Debugging Features:  </a:t>
            </a:r>
            <a:endParaRPr sz="1600" dirty="0"/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-US" sz="1600" dirty="0"/>
              <a:t>   UVM phase reporting (UVM_HIGH/UVM_LOW verbosity) and topology printing at </a:t>
            </a:r>
            <a:r>
              <a:rPr lang="en-US" sz="1600" dirty="0" err="1"/>
              <a:t>end_of_elaboration</a:t>
            </a:r>
            <a:r>
              <a:rPr lang="en-US" sz="1600" dirty="0"/>
              <a:t> were essential for tracking component instantiation and TLM connection issues.</a:t>
            </a:r>
            <a:endParaRPr sz="16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dirty="0"/>
              <a:t>4. Comprehensive Coverage:  </a:t>
            </a:r>
            <a:endParaRPr sz="1600" dirty="0"/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-US" sz="1600" dirty="0"/>
              <a:t>   Packet-level scoreboard comparison (comparing full id/length/payload/parity objects) caught data ordering issues that byte-level comparison would have missed.</a:t>
            </a:r>
            <a:endParaRPr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235" name="Google Shape;235;p32"/>
          <p:cNvSpPr txBox="1"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Clr>
                <a:srgbClr val="0000FF"/>
              </a:buClr>
              <a:buSzPts val="1400"/>
            </a:pPr>
            <a:r>
              <a:rPr lang="en-US" u="sng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http://www.sunburst-design.com/papers/CummingsSNUG2002SJ_FIFO1.pdf</a:t>
            </a:r>
            <a:endParaRPr dirty="0"/>
          </a:p>
          <a:p>
            <a:pPr indent="-457200">
              <a:spcBef>
                <a:spcPts val="500"/>
              </a:spcBef>
              <a:buSzPts val="1400"/>
            </a:pPr>
            <a:r>
              <a:rPr lang="en-US" dirty="0"/>
              <a:t>The UVM Primer</a:t>
            </a:r>
            <a:endParaRPr dirty="0"/>
          </a:p>
          <a:p>
            <a:pPr indent="-457200">
              <a:spcBef>
                <a:spcPts val="545"/>
              </a:spcBef>
              <a:buClr>
                <a:srgbClr val="0000FF"/>
              </a:buClr>
              <a:buSzPts val="1400"/>
            </a:pPr>
            <a:r>
              <a:rPr lang="en-US" u="sng" dirty="0">
                <a:solidFill>
                  <a:srgbClr val="0000FF"/>
                </a:solidFill>
              </a:rPr>
              <a:t>Khandelwal, T. Asynchronous FIFO Reference. github.com/</a:t>
            </a:r>
            <a:r>
              <a:rPr lang="en-US" u="sng" dirty="0" err="1">
                <a:solidFill>
                  <a:srgbClr val="0000FF"/>
                </a:solidFill>
              </a:rPr>
              <a:t>teekamkhandelwal</a:t>
            </a:r>
            <a:r>
              <a:rPr lang="en-US" u="sng" dirty="0">
                <a:solidFill>
                  <a:srgbClr val="0000FF"/>
                </a:solidFill>
              </a:rPr>
              <a:t>/</a:t>
            </a:r>
            <a:r>
              <a:rPr lang="en-US" u="sng" dirty="0" err="1">
                <a:solidFill>
                  <a:srgbClr val="0000FF"/>
                </a:solidFill>
              </a:rPr>
              <a:t>asynchronous_fifo</a:t>
            </a:r>
            <a:r>
              <a:rPr lang="en-US" u="sng" dirty="0">
                <a:solidFill>
                  <a:srgbClr val="0000FF"/>
                </a:solidFill>
              </a:rPr>
              <a:t>. </a:t>
            </a:r>
            <a:endParaRPr dirty="0"/>
          </a:p>
          <a:p>
            <a:pPr indent="-457200">
              <a:spcBef>
                <a:spcPts val="125"/>
              </a:spcBef>
              <a:buClr>
                <a:srgbClr val="0000FF"/>
              </a:buClr>
              <a:buSzPts val="1400"/>
            </a:pPr>
            <a:r>
              <a:rPr lang="en-US" u="sng" dirty="0">
                <a:solidFill>
                  <a:srgbClr val="0000FF"/>
                </a:solidFill>
              </a:rPr>
              <a:t>IEEE Std 1800-2017. </a:t>
            </a:r>
            <a:r>
              <a:rPr lang="en-US" u="sng" dirty="0" err="1">
                <a:solidFill>
                  <a:srgbClr val="0000FF"/>
                </a:solidFill>
              </a:rPr>
              <a:t>SystemVerilog</a:t>
            </a:r>
            <a:r>
              <a:rPr lang="en-US" u="sng" dirty="0">
                <a:solidFill>
                  <a:srgbClr val="0000FF"/>
                </a:solidFill>
              </a:rPr>
              <a:t> Unified Hardware Design, Specification, and Verification Language.</a:t>
            </a:r>
            <a:endParaRPr dirty="0"/>
          </a:p>
          <a:p>
            <a:pPr indent="-457200">
              <a:spcBef>
                <a:spcPts val="125"/>
              </a:spcBef>
              <a:buClr>
                <a:srgbClr val="0000FF"/>
              </a:buClr>
              <a:buSzPts val="1400"/>
            </a:pPr>
            <a:r>
              <a:rPr lang="en-US" u="sng" dirty="0" err="1">
                <a:solidFill>
                  <a:srgbClr val="0000FF"/>
                </a:solidFill>
              </a:rPr>
              <a:t>Accellera</a:t>
            </a:r>
            <a:r>
              <a:rPr lang="en-US" u="sng" dirty="0">
                <a:solidFill>
                  <a:srgbClr val="0000FF"/>
                </a:solidFill>
              </a:rPr>
              <a:t>. Universal Verification Methodology (UVM) 1.2 User</a:t>
            </a:r>
            <a:r>
              <a:rPr lang="en-US" u="sng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’s Guide. </a:t>
            </a:r>
            <a:r>
              <a:rPr lang="en-US" u="sng" dirty="0" err="1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Accellera</a:t>
            </a:r>
            <a:r>
              <a:rPr lang="en-US" u="sng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2015.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3"/>
          <p:cNvSpPr txBox="1">
            <a:spLocks noGrp="1"/>
          </p:cNvSpPr>
          <p:nvPr>
            <p:ph type="body" idx="1"/>
          </p:nvPr>
        </p:nvSpPr>
        <p:spPr>
          <a:xfrm>
            <a:off x="612648" y="2584059"/>
            <a:ext cx="3629568" cy="207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/>
              <a:t>   </a:t>
            </a:r>
            <a:r>
              <a:rPr lang="en-US" sz="3600" b="1"/>
              <a:t>THANK YOU</a:t>
            </a:r>
            <a:endParaRPr/>
          </a:p>
        </p:txBody>
      </p:sp>
      <p:pic>
        <p:nvPicPr>
          <p:cNvPr id="242" name="Google Shape;242;p33" descr="Smiling Face with No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6074" y="1114923"/>
            <a:ext cx="4628153" cy="4628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1546</Words>
  <Application>Microsoft Office PowerPoint</Application>
  <PresentationFormat>Widescreen</PresentationFormat>
  <Paragraphs>95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Archivo Narrow</vt:lpstr>
      <vt:lpstr>VanillaVTI</vt:lpstr>
      <vt:lpstr>VanillaVTI</vt:lpstr>
      <vt:lpstr> ECE 593 Fundamentals of Pre-Silicon Validation: Design and Verification of Asynchronous FIFO  </vt:lpstr>
      <vt:lpstr>Agenda</vt:lpstr>
      <vt:lpstr>Project Overview </vt:lpstr>
      <vt:lpstr>Design Implementation </vt:lpstr>
      <vt:lpstr>Block Diagram of Asynchronous FIFO</vt:lpstr>
      <vt:lpstr>Verfication of Aysnchorous FIFO</vt:lpstr>
      <vt:lpstr>Class Based Verification </vt:lpstr>
      <vt:lpstr>UVM Environment We Built</vt:lpstr>
      <vt:lpstr>UVM Based Verification </vt:lpstr>
      <vt:lpstr>UVM Sequences &amp; Simulation</vt:lpstr>
      <vt:lpstr>UVM Environment Structure </vt:lpstr>
      <vt:lpstr>Bug Injection</vt:lpstr>
      <vt:lpstr>Task Allocation</vt:lpstr>
      <vt:lpstr>Key Challenges</vt:lpstr>
      <vt:lpstr>Lessons Learned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Venkata Krishna Kumar Vedantam</dc:creator>
  <cp:lastModifiedBy>Senkathir Mutharasu</cp:lastModifiedBy>
  <cp:revision>11</cp:revision>
  <dcterms:created xsi:type="dcterms:W3CDTF">2025-03-04T05:05:44Z</dcterms:created>
  <dcterms:modified xsi:type="dcterms:W3CDTF">2026-03-15T06:28:56Z</dcterms:modified>
</cp:coreProperties>
</file>